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2.png"/><Relationship Id="rId5" Type="http://schemas.openxmlformats.org/officeDocument/2006/relationships/image" Target="../media/image-1-5.png"/><Relationship Id="rId6" Type="http://schemas.openxmlformats.org/officeDocument/2006/relationships/image" Target="../media/image-1-2.png"/><Relationship Id="rId7" Type="http://schemas.openxmlformats.org/officeDocument/2006/relationships/image" Target="../media/image-1-7.png"/><Relationship Id="rId8" Type="http://schemas.openxmlformats.org/officeDocument/2006/relationships/image" Target="../media/image-1-2.png"/><Relationship Id="rId9" Type="http://schemas.openxmlformats.org/officeDocument/2006/relationships/image" Target="../media/image-1-9.png"/><Relationship Id="rId10" Type="http://schemas.openxmlformats.org/officeDocument/2006/relationships/image" Target="../media/image-1-2.png"/><Relationship Id="rId11" Type="http://schemas.openxmlformats.org/officeDocument/2006/relationships/image" Target="../media/image-1-11.png"/><Relationship Id="rId12" Type="http://schemas.openxmlformats.org/officeDocument/2006/relationships/image" Target="../media/image-1-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2.png"/><Relationship Id="rId8" Type="http://schemas.openxmlformats.org/officeDocument/2006/relationships/image" Target="../media/image-5-8.png"/><Relationship Id="rId9" Type="http://schemas.openxmlformats.org/officeDocument/2006/relationships/image" Target="../media/image-5-2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2.png"/><Relationship Id="rId13" Type="http://schemas.openxmlformats.org/officeDocument/2006/relationships/image" Target="../media/image-5-13.png"/><Relationship Id="rId14" Type="http://schemas.openxmlformats.org/officeDocument/2006/relationships/image" Target="../media/image-5-2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20305C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926080"/>
            <a:ext cx="2743200" cy="2743200"/>
          </a:xfrm>
          <a:prstGeom prst="ellipse">
            <a:avLst/>
          </a:prstGeom>
          <a:solidFill>
            <a:srgbClr val="223258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20305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5806440"/>
            <a:ext cx="566928" cy="566928"/>
          </a:xfrm>
          <a:prstGeom prst="ellipse">
            <a:avLst/>
          </a:prstGeom>
          <a:solidFill>
            <a:srgbClr val="223458"/>
          </a:solidFill>
          <a:ln/>
        </p:spPr>
      </p:sp>
      <p:pic>
        <p:nvPicPr>
          <p:cNvPr id="6" name="Image 0" descr="/home/claude/researchrag/icons/upload-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5942503"/>
            <a:ext cx="294803" cy="294803"/>
          </a:xfrm>
          <a:prstGeom prst="rect">
            <a:avLst/>
          </a:prstGeom>
        </p:spPr>
      </p:pic>
      <p:pic>
        <p:nvPicPr>
          <p:cNvPr id="7" name="Image 1" descr="/home/claude/researchrag/icons/arrow-right-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5989320"/>
            <a:ext cx="201168" cy="2011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04288" y="5806440"/>
            <a:ext cx="566928" cy="566928"/>
          </a:xfrm>
          <a:prstGeom prst="ellipse">
            <a:avLst/>
          </a:prstGeom>
          <a:solidFill>
            <a:srgbClr val="223458"/>
          </a:solidFill>
          <a:ln/>
        </p:spPr>
      </p:sp>
      <p:pic>
        <p:nvPicPr>
          <p:cNvPr id="9" name="Image 2" descr="/home/claude/researchrag/icons/file-text-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351" y="5942503"/>
            <a:ext cx="294803" cy="294803"/>
          </a:xfrm>
          <a:prstGeom prst="rect">
            <a:avLst/>
          </a:prstGeom>
        </p:spPr>
      </p:pic>
      <p:pic>
        <p:nvPicPr>
          <p:cNvPr id="10" name="Image 3" descr="/home/claude/researchrag/icons/arrow-right-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5989320"/>
            <a:ext cx="201168" cy="201168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785616" y="5806440"/>
            <a:ext cx="566928" cy="566928"/>
          </a:xfrm>
          <a:prstGeom prst="ellipse">
            <a:avLst/>
          </a:prstGeom>
          <a:solidFill>
            <a:srgbClr val="223458"/>
          </a:solidFill>
          <a:ln/>
        </p:spPr>
      </p:sp>
      <p:pic>
        <p:nvPicPr>
          <p:cNvPr id="12" name="Image 4" descr="/home/claude/researchrag/icons/grid-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1679" y="5942503"/>
            <a:ext cx="294803" cy="294803"/>
          </a:xfrm>
          <a:prstGeom prst="rect">
            <a:avLst/>
          </a:prstGeom>
        </p:spPr>
      </p:pic>
      <p:pic>
        <p:nvPicPr>
          <p:cNvPr id="13" name="Image 5" descr="/home/claude/researchrag/icons/arrow-right-indi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5989320"/>
            <a:ext cx="201168" cy="201168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5266944" y="5806440"/>
            <a:ext cx="566928" cy="566928"/>
          </a:xfrm>
          <a:prstGeom prst="ellipse">
            <a:avLst/>
          </a:prstGeom>
          <a:solidFill>
            <a:srgbClr val="223458"/>
          </a:solidFill>
          <a:ln/>
        </p:spPr>
      </p:sp>
      <p:pic>
        <p:nvPicPr>
          <p:cNvPr id="15" name="Image 6" descr="/home/claude/researchrag/icons/hash-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3007" y="5942503"/>
            <a:ext cx="294803" cy="294803"/>
          </a:xfrm>
          <a:prstGeom prst="rect">
            <a:avLst/>
          </a:prstGeom>
        </p:spPr>
      </p:pic>
      <p:pic>
        <p:nvPicPr>
          <p:cNvPr id="16" name="Image 7" descr="/home/claude/researchrag/icons/arrow-right-indig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5989320"/>
            <a:ext cx="201168" cy="201168"/>
          </a:xfrm>
          <a:prstGeom prst="rect">
            <a:avLst/>
          </a:prstGeom>
        </p:spPr>
      </p:pic>
      <p:sp>
        <p:nvSpPr>
          <p:cNvPr id="17" name="Shape 7"/>
          <p:cNvSpPr/>
          <p:nvPr/>
        </p:nvSpPr>
        <p:spPr>
          <a:xfrm>
            <a:off x="6748272" y="5806440"/>
            <a:ext cx="566928" cy="566928"/>
          </a:xfrm>
          <a:prstGeom prst="ellipse">
            <a:avLst/>
          </a:prstGeom>
          <a:solidFill>
            <a:srgbClr val="223458"/>
          </a:solidFill>
          <a:ln/>
        </p:spPr>
      </p:sp>
      <p:pic>
        <p:nvPicPr>
          <p:cNvPr id="18" name="Image 8" descr="/home/claude/researchrag/icons/database-indi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4335" y="5942503"/>
            <a:ext cx="294803" cy="294803"/>
          </a:xfrm>
          <a:prstGeom prst="rect">
            <a:avLst/>
          </a:prstGeom>
        </p:spPr>
      </p:pic>
      <p:pic>
        <p:nvPicPr>
          <p:cNvPr id="19" name="Image 9" descr="/home/claude/researchrag/icons/arrow-right-indig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4928" y="5989320"/>
            <a:ext cx="201168" cy="201168"/>
          </a:xfrm>
          <a:prstGeom prst="rect">
            <a:avLst/>
          </a:prstGeom>
        </p:spPr>
      </p:pic>
      <p:sp>
        <p:nvSpPr>
          <p:cNvPr id="20" name="Shape 8"/>
          <p:cNvSpPr/>
          <p:nvPr/>
        </p:nvSpPr>
        <p:spPr>
          <a:xfrm>
            <a:off x="8229600" y="5806440"/>
            <a:ext cx="566928" cy="566928"/>
          </a:xfrm>
          <a:prstGeom prst="ellipse">
            <a:avLst/>
          </a:prstGeom>
          <a:solidFill>
            <a:srgbClr val="223458"/>
          </a:solidFill>
          <a:ln/>
        </p:spPr>
      </p:sp>
      <p:pic>
        <p:nvPicPr>
          <p:cNvPr id="21" name="Image 10" descr="/home/claude/researchrag/icons/cpu-indig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5663" y="5942503"/>
            <a:ext cx="294803" cy="294803"/>
          </a:xfrm>
          <a:prstGeom prst="rect">
            <a:avLst/>
          </a:prstGeom>
        </p:spPr>
      </p:pic>
      <p:pic>
        <p:nvPicPr>
          <p:cNvPr id="22" name="Image 11" descr="/home/claude/researchrag/icons/arrow-right-indigo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6256" y="5989320"/>
            <a:ext cx="201168" cy="201168"/>
          </a:xfrm>
          <a:prstGeom prst="rect">
            <a:avLst/>
          </a:prstGeom>
        </p:spPr>
      </p:pic>
      <p:sp>
        <p:nvSpPr>
          <p:cNvPr id="23" name="Shape 9"/>
          <p:cNvSpPr/>
          <p:nvPr/>
        </p:nvSpPr>
        <p:spPr>
          <a:xfrm>
            <a:off x="9710928" y="5806440"/>
            <a:ext cx="566928" cy="566928"/>
          </a:xfrm>
          <a:prstGeom prst="ellipse">
            <a:avLst/>
          </a:prstGeom>
          <a:solidFill>
            <a:srgbClr val="223458"/>
          </a:solidFill>
          <a:ln/>
        </p:spPr>
      </p:sp>
      <p:pic>
        <p:nvPicPr>
          <p:cNvPr id="24" name="Image 12" descr="/home/claude/researchrag/icons/check-circle-indigo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46991" y="5942503"/>
            <a:ext cx="294803" cy="294803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400" dirty="0"/>
          </a:p>
        </p:txBody>
      </p:sp>
      <p:sp>
        <p:nvSpPr>
          <p:cNvPr id="26" name="Text 11"/>
          <p:cNvSpPr/>
          <p:nvPr/>
        </p:nvSpPr>
        <p:spPr>
          <a:xfrm>
            <a:off x="777240" y="23317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ResearchRAG</a:t>
            </a:r>
            <a:endParaRPr lang="en-US" sz="6000" dirty="0"/>
          </a:p>
        </p:txBody>
      </p:sp>
      <p:sp>
        <p:nvSpPr>
          <p:cNvPr id="27" name="Text 12"/>
          <p:cNvSpPr/>
          <p:nvPr/>
        </p:nvSpPr>
        <p:spPr>
          <a:xfrm>
            <a:off x="822960" y="33649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Research Paper Assistant</a:t>
            </a:r>
            <a:endParaRPr lang="en-US" sz="2400" dirty="0"/>
          </a:p>
        </p:txBody>
      </p:sp>
      <p:sp>
        <p:nvSpPr>
          <p:cNvPr id="28" name="Shape 13"/>
          <p:cNvSpPr/>
          <p:nvPr/>
        </p:nvSpPr>
        <p:spPr>
          <a:xfrm>
            <a:off x="822960" y="4224528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4A5FE7"/>
          </a:solidFill>
          <a:ln/>
        </p:spPr>
      </p:sp>
      <p:sp>
        <p:nvSpPr>
          <p:cNvPr id="29" name="Text 14"/>
          <p:cNvSpPr/>
          <p:nvPr/>
        </p:nvSpPr>
        <p:spPr>
          <a:xfrm>
            <a:off x="822960" y="42245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00" dirty="0"/>
          </a:p>
        </p:txBody>
      </p:sp>
      <p:sp>
        <p:nvSpPr>
          <p:cNvPr id="3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Capstone Project</a:t>
            </a:r>
            <a:endParaRPr lang="en-US" sz="900" dirty="0"/>
          </a:p>
        </p:txBody>
      </p:sp>
      <p:sp>
        <p:nvSpPr>
          <p:cNvPr id="3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and students spend significant time searching, reading, and analysing research papers. 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keyword-based search may not understand the context and meaning of the content.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information such as methodology, datasets, results, limitations, and research gaps from multiple papers manually is </a:t>
            </a:r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A5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6309360" cy="1417320"/>
          </a:xfrm>
          <a:prstGeom prst="roundRect">
            <a:avLst>
              <a:gd name="adj" fmla="val 5806"/>
            </a:avLst>
          </a:prstGeom>
          <a:solidFill>
            <a:srgbClr val="18213B"/>
          </a:solidFill>
          <a:ln/>
          <a:effectLst>
            <a:outerShdw sx="100000" sy="100000" kx="0" ky="0" algn="bl" rotWithShape="0" blurRad="101600" dist="38100" dir="5400000">
              <a:srgbClr val="18213B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4709160"/>
            <a:ext cx="5669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users upload research papers and ask questions in natural language — the system retrieves relevant content and generates context-aware answers using Retrieval-Augmented Generation (RAG).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78040" y="1600200"/>
            <a:ext cx="44805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8213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0" y="1920240"/>
            <a:ext cx="685800" cy="685800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10" name="Image 0" descr="/home/claude/researchrag/icons/c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956" y="207111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66760" y="19476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Time-Consuming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498080" y="27432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reading and cross-referencing multiple lengthy papers drains hours that could go into actual research.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78040" y="4160520"/>
            <a:ext cx="44805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8213B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0" y="44805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1" descr="/home/claude/researchrag/icons/sear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956" y="46314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66760" y="4507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Search Falls Short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498080" y="53035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search matches words, not meaning — it misses the context behind a researcher’s question.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Capstone Project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HARD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Understanding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existing work means comparing approaches, datasets, and results across many long, technical papers — and doing it manually doesn’t scale.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821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51760"/>
            <a:ext cx="777240" cy="777240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7" name="Image 0" descr="/home/claude/researchrag/icons/lay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3" y="2822753"/>
            <a:ext cx="435254" cy="435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657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Multi-Paper Analysis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25196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methodologies, identifying common datasets, and studying experimental results across several papers requires significant time and effort.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228600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27000" dist="38100" dir="5400000">
              <a:srgbClr val="18213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45736" y="2651760"/>
            <a:ext cx="777240" cy="777240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12" name="Image 1" descr="/home/claude/researchrag/icons/sear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729" y="2822753"/>
            <a:ext cx="435254" cy="435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45736" y="3657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Not Keywords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45736" y="425196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specifics like a paper’s methodology or dataset needs understanding meaning — plain keyword matching alone can’t do that.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11312" y="228600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18213B"/>
          </a:solidFill>
          <a:ln w="12700">
            <a:solidFill>
              <a:srgbClr val="18213B"/>
            </a:solidFill>
            <a:prstDash val="solid"/>
          </a:ln>
          <a:effectLst>
            <a:outerShdw sx="100000" sy="100000" kx="0" ky="0" algn="bl" rotWithShape="0" blurRad="127000" dist="38100" dir="5400000">
              <a:srgbClr val="18213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77072" y="2651760"/>
            <a:ext cx="777240" cy="777240"/>
          </a:xfrm>
          <a:prstGeom prst="ellipse">
            <a:avLst/>
          </a:prstGeom>
          <a:solidFill>
            <a:srgbClr val="8A3B2C"/>
          </a:solidFill>
          <a:ln/>
        </p:spPr>
      </p:sp>
      <p:pic>
        <p:nvPicPr>
          <p:cNvPr id="17" name="Image 2" descr="/home/claude/researchrag/icons/alert-triang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065" y="2822753"/>
            <a:ext cx="435254" cy="435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77072" y="3657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Hallucination Risk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77072" y="425196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B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fluent natural-language answers, but may state information not actually supported by the source papers — risky for academic work.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Capstone Project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uses a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approach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retrieve relevant information from research papers and generate accurate, source-grounded responses — instead of relying on an LLM’s memory alone.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212C4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9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D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 →  LLM (memory only)  →  Answer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61320" y="3017520"/>
            <a:ext cx="914400" cy="914400"/>
          </a:xfrm>
          <a:prstGeom prst="ellipse">
            <a:avLst/>
          </a:prstGeom>
          <a:solidFill>
            <a:srgbClr val="3A2A2A"/>
          </a:solidFill>
          <a:ln/>
        </p:spPr>
      </p:sp>
      <p:pic>
        <p:nvPicPr>
          <p:cNvPr id="9" name="Image 0" descr="/home/claude/researchrag/icons/alert-triangle-mar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32461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72160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hallucination — no grounding in the actual papers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4A5FE7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RESEARCHRAG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502920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→ Retrieve relevant chunks → LLM + context → Answer with sources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561320" y="4846320"/>
            <a:ext cx="914400" cy="914400"/>
          </a:xfrm>
          <a:prstGeom prst="ellipse">
            <a:avLst/>
          </a:prstGeom>
          <a:solidFill>
            <a:srgbClr val="3E52D6"/>
          </a:solidFill>
          <a:ln/>
        </p:spPr>
      </p:sp>
      <p:pic>
        <p:nvPicPr>
          <p:cNvPr id="15" name="Image 1" descr="/home/claude/researchrag/icons/check-circ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0749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5550408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context-aware, and traceable back to the source papers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Capstone Project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— 9-Step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7588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45920"/>
            <a:ext cx="384048" cy="384048"/>
          </a:xfrm>
          <a:prstGeom prst="ellipse">
            <a:avLst/>
          </a:prstGeom>
          <a:solidFill>
            <a:srgbClr val="18213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1609344"/>
            <a:ext cx="530352" cy="530352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8" name="Image 0" descr="/home/claude/researchrag/icons/uploa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8329" y="1728673"/>
            <a:ext cx="291694" cy="2916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2066544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04088" y="2395728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in PDF format</a:t>
            </a:r>
            <a:endParaRPr lang="en-US" sz="1100" dirty="0"/>
          </a:p>
        </p:txBody>
      </p:sp>
      <p:pic>
        <p:nvPicPr>
          <p:cNvPr id="11" name="Image 1" descr="/home/claude/researchrag/icons/arrow-right-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0" y="2103120"/>
            <a:ext cx="164592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06824" y="1463040"/>
            <a:ext cx="367588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07992" y="1645920"/>
            <a:ext cx="384048" cy="384048"/>
          </a:xfrm>
          <a:prstGeom prst="ellipse">
            <a:avLst/>
          </a:prstGeom>
          <a:solidFill>
            <a:srgbClr val="18213B"/>
          </a:solidFill>
          <a:ln/>
        </p:spPr>
      </p:sp>
      <p:sp>
        <p:nvSpPr>
          <p:cNvPr id="14" name="Text 10"/>
          <p:cNvSpPr/>
          <p:nvPr/>
        </p:nvSpPr>
        <p:spPr>
          <a:xfrm>
            <a:off x="4507992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232904" y="1609344"/>
            <a:ext cx="530352" cy="530352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16" name="Image 2" descr="/home/claude/researchrag/icons/file-tex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233" y="1728673"/>
            <a:ext cx="291694" cy="291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07992" y="2066544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507992" y="2395728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preprocess the text</a:t>
            </a:r>
            <a:endParaRPr lang="en-US" sz="1100" dirty="0"/>
          </a:p>
        </p:txBody>
      </p:sp>
      <p:pic>
        <p:nvPicPr>
          <p:cNvPr id="19" name="Image 3" descr="/home/claude/researchrag/icons/arrow-right-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284" y="2103120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110728" y="1463040"/>
            <a:ext cx="367588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311896" y="1645920"/>
            <a:ext cx="384048" cy="384048"/>
          </a:xfrm>
          <a:prstGeom prst="ellipse">
            <a:avLst/>
          </a:prstGeom>
          <a:solidFill>
            <a:srgbClr val="18213B"/>
          </a:solidFill>
          <a:ln/>
        </p:spPr>
      </p:sp>
      <p:sp>
        <p:nvSpPr>
          <p:cNvPr id="22" name="Text 16"/>
          <p:cNvSpPr/>
          <p:nvPr/>
        </p:nvSpPr>
        <p:spPr>
          <a:xfrm>
            <a:off x="8311896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11036808" y="1609344"/>
            <a:ext cx="530352" cy="530352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24" name="Image 4" descr="/home/claude/researchrag/icons/gri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37" y="1728673"/>
            <a:ext cx="291694" cy="29169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311896" y="2066544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8311896" y="2395728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text into smaller chunks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02920" y="3108960"/>
            <a:ext cx="367588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04088" y="3291840"/>
            <a:ext cx="384048" cy="384048"/>
          </a:xfrm>
          <a:prstGeom prst="ellipse">
            <a:avLst/>
          </a:prstGeom>
          <a:solidFill>
            <a:srgbClr val="18213B"/>
          </a:solidFill>
          <a:ln/>
        </p:spPr>
      </p:sp>
      <p:sp>
        <p:nvSpPr>
          <p:cNvPr id="29" name="Text 22"/>
          <p:cNvSpPr/>
          <p:nvPr/>
        </p:nvSpPr>
        <p:spPr>
          <a:xfrm>
            <a:off x="704088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3429000" y="3255264"/>
            <a:ext cx="530352" cy="530352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31" name="Image 5" descr="/home/claude/researchrag/icons/hash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329" y="3374593"/>
            <a:ext cx="291694" cy="2916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" y="3712464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704088" y="4041648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embeddings for chunks</a:t>
            </a:r>
            <a:endParaRPr lang="en-US" sz="1100" dirty="0"/>
          </a:p>
        </p:txBody>
      </p:sp>
      <p:pic>
        <p:nvPicPr>
          <p:cNvPr id="34" name="Image 6" descr="/home/claude/researchrag/icons/arrow-right-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3380" y="3749040"/>
            <a:ext cx="164592" cy="16459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4306824" y="3108960"/>
            <a:ext cx="367588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4507992" y="3291840"/>
            <a:ext cx="384048" cy="384048"/>
          </a:xfrm>
          <a:prstGeom prst="ellipse">
            <a:avLst/>
          </a:prstGeom>
          <a:solidFill>
            <a:srgbClr val="18213B"/>
          </a:solidFill>
          <a:ln/>
        </p:spPr>
      </p:sp>
      <p:sp>
        <p:nvSpPr>
          <p:cNvPr id="37" name="Text 28"/>
          <p:cNvSpPr/>
          <p:nvPr/>
        </p:nvSpPr>
        <p:spPr>
          <a:xfrm>
            <a:off x="4507992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7232904" y="3255264"/>
            <a:ext cx="530352" cy="530352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39" name="Image 7" descr="/home/claude/researchrag/icons/database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2233" y="3374593"/>
            <a:ext cx="291694" cy="29169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507992" y="3712464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550" dirty="0"/>
          </a:p>
        </p:txBody>
      </p:sp>
      <p:sp>
        <p:nvSpPr>
          <p:cNvPr id="41" name="Text 31"/>
          <p:cNvSpPr/>
          <p:nvPr/>
        </p:nvSpPr>
        <p:spPr>
          <a:xfrm>
            <a:off x="4507992" y="4041648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embeddings in a vector DB</a:t>
            </a:r>
            <a:endParaRPr lang="en-US" sz="1100" dirty="0"/>
          </a:p>
        </p:txBody>
      </p:sp>
      <p:pic>
        <p:nvPicPr>
          <p:cNvPr id="42" name="Image 8" descr="/home/claude/researchrag/icons/arrow-right-indi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7284" y="3749040"/>
            <a:ext cx="164592" cy="164592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8110728" y="3108960"/>
            <a:ext cx="367588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44" name="Shape 33"/>
          <p:cNvSpPr/>
          <p:nvPr/>
        </p:nvSpPr>
        <p:spPr>
          <a:xfrm>
            <a:off x="8311896" y="3291840"/>
            <a:ext cx="384048" cy="384048"/>
          </a:xfrm>
          <a:prstGeom prst="ellipse">
            <a:avLst/>
          </a:prstGeom>
          <a:solidFill>
            <a:srgbClr val="18213B"/>
          </a:solidFill>
          <a:ln/>
        </p:spPr>
      </p:sp>
      <p:sp>
        <p:nvSpPr>
          <p:cNvPr id="45" name="Text 34"/>
          <p:cNvSpPr/>
          <p:nvPr/>
        </p:nvSpPr>
        <p:spPr>
          <a:xfrm>
            <a:off x="8311896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Shape 35"/>
          <p:cNvSpPr/>
          <p:nvPr/>
        </p:nvSpPr>
        <p:spPr>
          <a:xfrm>
            <a:off x="11036808" y="3255264"/>
            <a:ext cx="530352" cy="530352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47" name="Image 9" descr="/home/claude/researchrag/icons/help-circle-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56137" y="3374593"/>
            <a:ext cx="291694" cy="291694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8311896" y="3712464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550" dirty="0"/>
          </a:p>
        </p:txBody>
      </p:sp>
      <p:sp>
        <p:nvSpPr>
          <p:cNvPr id="49" name="Text 37"/>
          <p:cNvSpPr/>
          <p:nvPr/>
        </p:nvSpPr>
        <p:spPr>
          <a:xfrm>
            <a:off x="8311896" y="4041648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user questions (NL)</a:t>
            </a:r>
            <a:endParaRPr lang="en-US" sz="1100" dirty="0"/>
          </a:p>
        </p:txBody>
      </p:sp>
      <p:sp>
        <p:nvSpPr>
          <p:cNvPr id="50" name="Shape 38"/>
          <p:cNvSpPr/>
          <p:nvPr/>
        </p:nvSpPr>
        <p:spPr>
          <a:xfrm>
            <a:off x="502920" y="4754880"/>
            <a:ext cx="367588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704088" y="4937760"/>
            <a:ext cx="384048" cy="384048"/>
          </a:xfrm>
          <a:prstGeom prst="ellipse">
            <a:avLst/>
          </a:prstGeom>
          <a:solidFill>
            <a:srgbClr val="18213B"/>
          </a:solidFill>
          <a:ln/>
        </p:spPr>
      </p:sp>
      <p:sp>
        <p:nvSpPr>
          <p:cNvPr id="52" name="Text 40"/>
          <p:cNvSpPr/>
          <p:nvPr/>
        </p:nvSpPr>
        <p:spPr>
          <a:xfrm>
            <a:off x="704088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3" name="Shape 41"/>
          <p:cNvSpPr/>
          <p:nvPr/>
        </p:nvSpPr>
        <p:spPr>
          <a:xfrm>
            <a:off x="3429000" y="4901184"/>
            <a:ext cx="530352" cy="530352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54" name="Image 10" descr="/home/claude/researchrag/icons/target-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8329" y="5020513"/>
            <a:ext cx="291694" cy="291694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704088" y="5358384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550" dirty="0"/>
          </a:p>
        </p:txBody>
      </p:sp>
      <p:sp>
        <p:nvSpPr>
          <p:cNvPr id="56" name="Text 43"/>
          <p:cNvSpPr/>
          <p:nvPr/>
        </p:nvSpPr>
        <p:spPr>
          <a:xfrm>
            <a:off x="704088" y="5687568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most relevant sections</a:t>
            </a:r>
            <a:endParaRPr lang="en-US" sz="1100" dirty="0"/>
          </a:p>
        </p:txBody>
      </p:sp>
      <p:pic>
        <p:nvPicPr>
          <p:cNvPr id="57" name="Image 11" descr="/home/claude/researchrag/icons/arrow-right-indigo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3380" y="5394960"/>
            <a:ext cx="164592" cy="164592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4306824" y="4754880"/>
            <a:ext cx="367588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59" name="Shape 45"/>
          <p:cNvSpPr/>
          <p:nvPr/>
        </p:nvSpPr>
        <p:spPr>
          <a:xfrm>
            <a:off x="4507992" y="4937760"/>
            <a:ext cx="384048" cy="384048"/>
          </a:xfrm>
          <a:prstGeom prst="ellipse">
            <a:avLst/>
          </a:prstGeom>
          <a:solidFill>
            <a:srgbClr val="18213B"/>
          </a:solidFill>
          <a:ln/>
        </p:spPr>
      </p:sp>
      <p:sp>
        <p:nvSpPr>
          <p:cNvPr id="60" name="Text 46"/>
          <p:cNvSpPr/>
          <p:nvPr/>
        </p:nvSpPr>
        <p:spPr>
          <a:xfrm>
            <a:off x="4507992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1" name="Shape 47"/>
          <p:cNvSpPr/>
          <p:nvPr/>
        </p:nvSpPr>
        <p:spPr>
          <a:xfrm>
            <a:off x="7232904" y="4901184"/>
            <a:ext cx="530352" cy="530352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62" name="Image 12" descr="/home/claude/researchrag/icons/cpu-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52233" y="5020513"/>
            <a:ext cx="291694" cy="291694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4507992" y="5358384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550" dirty="0"/>
          </a:p>
        </p:txBody>
      </p:sp>
      <p:sp>
        <p:nvSpPr>
          <p:cNvPr id="64" name="Text 49"/>
          <p:cNvSpPr/>
          <p:nvPr/>
        </p:nvSpPr>
        <p:spPr>
          <a:xfrm>
            <a:off x="4507992" y="5687568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retrieved content to LLM</a:t>
            </a:r>
            <a:endParaRPr lang="en-US" sz="1100" dirty="0"/>
          </a:p>
        </p:txBody>
      </p:sp>
      <p:pic>
        <p:nvPicPr>
          <p:cNvPr id="65" name="Image 13" descr="/home/claude/researchrag/icons/arrow-right-indigo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7284" y="5394960"/>
            <a:ext cx="164592" cy="164592"/>
          </a:xfrm>
          <a:prstGeom prst="rect">
            <a:avLst/>
          </a:prstGeom>
        </p:spPr>
      </p:pic>
      <p:sp>
        <p:nvSpPr>
          <p:cNvPr id="66" name="Shape 50"/>
          <p:cNvSpPr/>
          <p:nvPr/>
        </p:nvSpPr>
        <p:spPr>
          <a:xfrm>
            <a:off x="8110728" y="4754880"/>
            <a:ext cx="3675888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67" name="Shape 51"/>
          <p:cNvSpPr/>
          <p:nvPr/>
        </p:nvSpPr>
        <p:spPr>
          <a:xfrm>
            <a:off x="8311896" y="4937760"/>
            <a:ext cx="384048" cy="384048"/>
          </a:xfrm>
          <a:prstGeom prst="ellipse">
            <a:avLst/>
          </a:prstGeom>
          <a:solidFill>
            <a:srgbClr val="18213B"/>
          </a:solidFill>
          <a:ln/>
        </p:spPr>
      </p:sp>
      <p:sp>
        <p:nvSpPr>
          <p:cNvPr id="68" name="Text 52"/>
          <p:cNvSpPr/>
          <p:nvPr/>
        </p:nvSpPr>
        <p:spPr>
          <a:xfrm>
            <a:off x="8311896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9" name="Shape 53"/>
          <p:cNvSpPr/>
          <p:nvPr/>
        </p:nvSpPr>
        <p:spPr>
          <a:xfrm>
            <a:off x="11036808" y="4901184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0" name="Image 14" descr="/home/claude/researchrag/icons/check-circle-wh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56137" y="5020513"/>
            <a:ext cx="291694" cy="291694"/>
          </a:xfrm>
          <a:prstGeom prst="rect">
            <a:avLst/>
          </a:prstGeom>
        </p:spPr>
      </p:pic>
      <p:sp>
        <p:nvSpPr>
          <p:cNvPr id="71" name="Text 54"/>
          <p:cNvSpPr/>
          <p:nvPr/>
        </p:nvSpPr>
        <p:spPr>
          <a:xfrm>
            <a:off x="8311896" y="5358384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550" dirty="0"/>
          </a:p>
        </p:txBody>
      </p:sp>
      <p:sp>
        <p:nvSpPr>
          <p:cNvPr id="72" name="Text 55"/>
          <p:cNvSpPr/>
          <p:nvPr/>
        </p:nvSpPr>
        <p:spPr>
          <a:xfrm>
            <a:off x="8311896" y="5687568"/>
            <a:ext cx="3310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source references</a:t>
            </a:r>
            <a:endParaRPr lang="en-US" sz="1100" dirty="0"/>
          </a:p>
        </p:txBody>
      </p:sp>
      <p:sp>
        <p:nvSpPr>
          <p:cNvPr id="73" name="Text 5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Capstone Project</a:t>
            </a:r>
            <a:endParaRPr lang="en-US" sz="900" dirty="0"/>
          </a:p>
        </p:txBody>
      </p:sp>
      <p:sp>
        <p:nvSpPr>
          <p:cNvPr id="74" name="Text 5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25400" dir="5400000">
              <a:srgbClr val="18213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691640"/>
            <a:ext cx="18653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2066544"/>
            <a:ext cx="182880" cy="0"/>
          </a:xfrm>
          <a:prstGeom prst="line">
            <a:avLst/>
          </a:prstGeom>
          <a:noFill/>
          <a:ln w="25400">
            <a:solidFill>
              <a:srgbClr val="AEB6D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0" y="16916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18213B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16352" y="1691640"/>
            <a:ext cx="18653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066544"/>
            <a:ext cx="182880" cy="0"/>
          </a:xfrm>
          <a:prstGeom prst="line">
            <a:avLst/>
          </a:prstGeom>
          <a:noFill/>
          <a:ln w="25400">
            <a:solidFill>
              <a:srgbClr val="AEB6D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37760" y="16916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18213B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10912" y="1691640"/>
            <a:ext cx="18653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2066544"/>
            <a:ext cx="182880" cy="0"/>
          </a:xfrm>
          <a:prstGeom prst="line">
            <a:avLst/>
          </a:prstGeom>
          <a:noFill/>
          <a:ln w="25400">
            <a:solidFill>
              <a:srgbClr val="AEB6D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32320" y="16916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18213B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05472" y="1691640"/>
            <a:ext cx="18653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2066544"/>
            <a:ext cx="182880" cy="0"/>
          </a:xfrm>
          <a:prstGeom prst="line">
            <a:avLst/>
          </a:prstGeom>
          <a:noFill/>
          <a:ln w="25400">
            <a:solidFill>
              <a:srgbClr val="AEB6D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26880" y="16916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5B4B9A"/>
          </a:solidFill>
          <a:ln/>
          <a:effectLst>
            <a:outerShdw sx="100000" sy="100000" kx="0" ky="0" algn="bl" rotWithShape="0" blurRad="63500" dist="25400" dir="5400000">
              <a:srgbClr val="18213B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00032" y="1691640"/>
            <a:ext cx="18653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332720" y="2441448"/>
            <a:ext cx="0" cy="566928"/>
          </a:xfrm>
          <a:prstGeom prst="line">
            <a:avLst/>
          </a:prstGeom>
          <a:noFill/>
          <a:ln w="25400">
            <a:solidFill>
              <a:srgbClr val="AEB6D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43200" y="3008376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8A3B2C"/>
          </a:solidFill>
          <a:ln/>
          <a:effectLst>
            <a:outerShdw sx="100000" sy="100000" kx="0" ky="0" algn="bl" rotWithShape="0" blurRad="63500" dist="25400" dir="5400000">
              <a:srgbClr val="18213B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816352" y="3008376"/>
            <a:ext cx="18653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Sources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008376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8A3B2C"/>
          </a:solidFill>
          <a:ln/>
          <a:effectLst>
            <a:outerShdw sx="100000" sy="100000" kx="0" ky="0" algn="bl" rotWithShape="0" blurRad="63500" dist="25400" dir="5400000">
              <a:srgbClr val="18213B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10912" y="3008376"/>
            <a:ext cx="18653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3008376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5B4B9A"/>
          </a:solidFill>
          <a:ln/>
          <a:effectLst>
            <a:outerShdw sx="100000" sy="100000" kx="0" ky="0" algn="bl" rotWithShape="0" blurRad="63500" dist="25400" dir="5400000">
              <a:srgbClr val="18213B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05472" y="3008376"/>
            <a:ext cx="18653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Paper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26880" y="3008376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5B4B9A"/>
          </a:solidFill>
          <a:ln/>
          <a:effectLst>
            <a:outerShdw sx="100000" sy="100000" kx="0" ky="0" algn="bl" rotWithShape="0" blurRad="63500" dist="25400" dir="5400000">
              <a:srgbClr val="18213B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400032" y="3008376"/>
            <a:ext cx="18653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flipH="1">
            <a:off x="9144000" y="3383280"/>
            <a:ext cx="182880" cy="0"/>
          </a:xfrm>
          <a:prstGeom prst="line">
            <a:avLst/>
          </a:prstGeom>
          <a:noFill/>
          <a:ln w="25400">
            <a:solidFill>
              <a:srgbClr val="AEB6D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6949440" y="3383280"/>
            <a:ext cx="182880" cy="0"/>
          </a:xfrm>
          <a:prstGeom prst="line">
            <a:avLst/>
          </a:prstGeom>
          <a:noFill/>
          <a:ln w="25400">
            <a:solidFill>
              <a:srgbClr val="AEB6D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4754880" y="3383280"/>
            <a:ext cx="182880" cy="0"/>
          </a:xfrm>
          <a:prstGeom prst="line">
            <a:avLst/>
          </a:prstGeom>
          <a:noFill/>
          <a:ln w="25400">
            <a:solidFill>
              <a:srgbClr val="AEB6D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326880" y="4261104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25400" dir="5400000">
              <a:srgbClr val="18213B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400032" y="4261104"/>
            <a:ext cx="18653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flipV="1">
            <a:off x="10332720" y="3758184"/>
            <a:ext cx="0" cy="502920"/>
          </a:xfrm>
          <a:prstGeom prst="line">
            <a:avLst/>
          </a:prstGeom>
          <a:noFill/>
          <a:ln w="25400">
            <a:solidFill>
              <a:srgbClr val="AEB6D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48640" y="5513832"/>
            <a:ext cx="201168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5458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560320" y="5513832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2852928" y="5458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0" y="5513832"/>
            <a:ext cx="201168" cy="201168"/>
          </a:xfrm>
          <a:prstGeom prst="rect">
            <a:avLst/>
          </a:prstGeom>
          <a:solidFill>
            <a:srgbClr val="5B4B9A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5458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Search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83680" y="5513832"/>
            <a:ext cx="201168" cy="201168"/>
          </a:xfrm>
          <a:prstGeom prst="rect">
            <a:avLst/>
          </a:prstGeom>
          <a:solidFill>
            <a:srgbClr val="8A3B2C"/>
          </a:solidFill>
          <a:ln/>
        </p:spPr>
      </p:sp>
      <p:sp>
        <p:nvSpPr>
          <p:cNvPr id="40" name="Text 38"/>
          <p:cNvSpPr/>
          <p:nvPr/>
        </p:nvSpPr>
        <p:spPr>
          <a:xfrm>
            <a:off x="6876288" y="5458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Capstone Project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BLOCKS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8213B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013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PDF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1671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80360" y="2125980"/>
            <a:ext cx="256032" cy="0"/>
          </a:xfrm>
          <a:prstGeom prst="line">
            <a:avLst/>
          </a:prstGeom>
          <a:noFill/>
          <a:ln w="25400">
            <a:solidFill>
              <a:srgbClr val="9AA3C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36392" y="169164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8213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73552" y="18013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 Text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73552" y="21671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pieces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68112" y="2125980"/>
            <a:ext cx="256032" cy="0"/>
          </a:xfrm>
          <a:prstGeom prst="line">
            <a:avLst/>
          </a:prstGeom>
          <a:noFill/>
          <a:ln w="25400">
            <a:solidFill>
              <a:srgbClr val="9AA3C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24144" y="169164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8213B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61304" y="18013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861304" y="21671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 numbers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2125980"/>
            <a:ext cx="256032" cy="0"/>
          </a:xfrm>
          <a:prstGeom prst="line">
            <a:avLst/>
          </a:prstGeom>
          <a:noFill/>
          <a:ln w="25400">
            <a:solidFill>
              <a:srgbClr val="9AA3C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11896" y="169164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5B4B9A"/>
          </a:solidFill>
          <a:ln/>
          <a:effectLst>
            <a:outerShdw sx="100000" sy="100000" kx="0" ky="0" algn="bl" rotWithShape="0" blurRad="76200" dist="25400" dir="5400000">
              <a:srgbClr val="18213B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49056" y="18013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DB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49056" y="21671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embeddings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77756" y="2560320"/>
            <a:ext cx="0" cy="502920"/>
          </a:xfrm>
          <a:prstGeom prst="line">
            <a:avLst/>
          </a:prstGeom>
          <a:noFill/>
          <a:ln w="25400">
            <a:solidFill>
              <a:srgbClr val="9AA3C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306324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8213B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1729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Question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85800" y="35387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880360" y="3497580"/>
            <a:ext cx="5431536" cy="0"/>
          </a:xfrm>
          <a:prstGeom prst="line">
            <a:avLst/>
          </a:prstGeom>
          <a:noFill/>
          <a:ln w="25400">
            <a:solidFill>
              <a:srgbClr val="9AA3C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311896" y="306324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5B4B9A"/>
          </a:solidFill>
          <a:ln/>
          <a:effectLst>
            <a:outerShdw sx="100000" sy="100000" kx="0" ky="0" algn="bl" rotWithShape="0" blurRad="76200" dist="25400" dir="5400000">
              <a:srgbClr val="18213B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49056" y="31729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DB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449056" y="35387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similar chunks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77756" y="3931920"/>
            <a:ext cx="0" cy="502920"/>
          </a:xfrm>
          <a:prstGeom prst="line">
            <a:avLst/>
          </a:prstGeom>
          <a:noFill/>
          <a:ln w="25400">
            <a:solidFill>
              <a:srgbClr val="9AA3C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311896" y="443484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8A3B2C"/>
          </a:solidFill>
          <a:ln/>
          <a:effectLst>
            <a:outerShdw sx="100000" sy="100000" kx="0" ky="0" algn="bl" rotWithShape="0" blurRad="76200" dist="25400" dir="5400000">
              <a:srgbClr val="18213B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49056" y="45445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449056" y="49103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chunks, answers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477756" y="5303520"/>
            <a:ext cx="0" cy="502920"/>
          </a:xfrm>
          <a:prstGeom prst="line">
            <a:avLst/>
          </a:prstGeom>
          <a:noFill/>
          <a:ln w="25400">
            <a:solidFill>
              <a:srgbClr val="9AA3C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311896" y="580644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8A3B2C"/>
          </a:solidFill>
          <a:ln/>
          <a:effectLst>
            <a:outerShdw sx="100000" sy="100000" kx="0" ky="0" algn="bl" rotWithShape="0" blurRad="76200" dist="25400" dir="5400000">
              <a:srgbClr val="18213B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449056" y="59161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+ Sources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49056" y="62819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user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4160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KEY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54456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896112" y="45079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491032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5B4B9A"/>
          </a:solidFill>
          <a:ln/>
        </p:spPr>
      </p:sp>
      <p:sp>
        <p:nvSpPr>
          <p:cNvPr id="39" name="Text 37"/>
          <p:cNvSpPr/>
          <p:nvPr/>
        </p:nvSpPr>
        <p:spPr>
          <a:xfrm>
            <a:off x="896112" y="487375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Search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27608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8A3B2C"/>
          </a:solidFill>
          <a:ln/>
        </p:spPr>
      </p:sp>
      <p:sp>
        <p:nvSpPr>
          <p:cNvPr id="41" name="Text 39"/>
          <p:cNvSpPr/>
          <p:nvPr/>
        </p:nvSpPr>
        <p:spPr>
          <a:xfrm>
            <a:off x="896112" y="523951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5751576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is colour-coded by function, so the flow from a raw PDF to a sourced answer stays easy to follow.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Capstone Project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6" name="Image 0" descr="/home/claude/researchrag/icons/monito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1067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916936"/>
            <a:ext cx="82296" cy="82296"/>
          </a:xfrm>
          <a:prstGeom prst="ellipse">
            <a:avLst/>
          </a:prstGeom>
          <a:solidFill>
            <a:srgbClr val="4A5FE7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76148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3296412"/>
            <a:ext cx="82296" cy="82296"/>
          </a:xfrm>
          <a:prstGeom prst="ellipse">
            <a:avLst/>
          </a:prstGeom>
          <a:solidFill>
            <a:srgbClr val="4A5FE7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14096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Jupyter Notebook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3675888"/>
            <a:ext cx="82296" cy="82296"/>
          </a:xfrm>
          <a:prstGeom prst="ellipse">
            <a:avLst/>
          </a:prstGeom>
          <a:solidFill>
            <a:srgbClr val="4A5FE7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5204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4055364"/>
            <a:ext cx="82296" cy="82296"/>
          </a:xfrm>
          <a:prstGeom prst="ellipse">
            <a:avLst/>
          </a:prstGeom>
          <a:solidFill>
            <a:srgbClr val="4A5FE7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389991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processing libraries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4434840"/>
            <a:ext cx="82296" cy="82296"/>
          </a:xfrm>
          <a:prstGeom prst="ellipse">
            <a:avLst/>
          </a:prstGeom>
          <a:solidFill>
            <a:srgbClr val="4A5FE7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427939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or LlamaIndex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14400" y="4814316"/>
            <a:ext cx="82296" cy="82296"/>
          </a:xfrm>
          <a:prstGeom prst="ellipse">
            <a:avLst/>
          </a:prstGeom>
          <a:solidFill>
            <a:srgbClr val="4A5FE7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46588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or ChromaDB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14400" y="5193792"/>
            <a:ext cx="82296" cy="82296"/>
          </a:xfrm>
          <a:prstGeom prst="ellipse">
            <a:avLst/>
          </a:prstGeom>
          <a:solidFill>
            <a:srgbClr val="4A5FE7"/>
          </a:solidFill>
          <a:ln/>
        </p:spPr>
      </p:sp>
      <p:sp>
        <p:nvSpPr>
          <p:cNvPr id="21" name="Text 18"/>
          <p:cNvSpPr/>
          <p:nvPr/>
        </p:nvSpPr>
        <p:spPr>
          <a:xfrm>
            <a:off x="1143000" y="503834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or locally hosted LLM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14400" y="5573268"/>
            <a:ext cx="82296" cy="82296"/>
          </a:xfrm>
          <a:prstGeom prst="ellipse">
            <a:avLst/>
          </a:prstGeom>
          <a:solidFill>
            <a:srgbClr val="4A5FE7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" y="54178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14400" y="5952744"/>
            <a:ext cx="82296" cy="82296"/>
          </a:xfrm>
          <a:prstGeom prst="ellipse">
            <a:avLst/>
          </a:prstGeom>
          <a:solidFill>
            <a:srgbClr val="4A5FE7"/>
          </a:solidFill>
          <a:ln/>
        </p:spPr>
      </p:sp>
      <p:sp>
        <p:nvSpPr>
          <p:cNvPr id="25" name="Text 22"/>
          <p:cNvSpPr/>
          <p:nvPr/>
        </p:nvSpPr>
        <p:spPr>
          <a:xfrm>
            <a:off x="1143000" y="579729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Flask / FastAPI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199632" y="160020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18213B"/>
          </a:solidFill>
          <a:ln/>
          <a:effectLst>
            <a:outerShdw sx="100000" sy="100000" kx="0" ky="0" algn="bl" rotWithShape="0" blurRad="101600" dist="25400" dir="5400000">
              <a:srgbClr val="18213B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65392" y="19659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8" name="Image 1" descr="/home/claude/researchrag/icons/boo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210" y="2106778"/>
            <a:ext cx="358445" cy="35844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88352" y="20391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Prerequisites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6565392" y="291693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7"/>
          <p:cNvSpPr/>
          <p:nvPr/>
        </p:nvSpPr>
        <p:spPr>
          <a:xfrm>
            <a:off x="6793992" y="276148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Python programming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565392" y="334670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29"/>
          <p:cNvSpPr/>
          <p:nvPr/>
        </p:nvSpPr>
        <p:spPr>
          <a:xfrm>
            <a:off x="6793992" y="319125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6565392" y="377647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1"/>
          <p:cNvSpPr/>
          <p:nvPr/>
        </p:nvSpPr>
        <p:spPr>
          <a:xfrm>
            <a:off x="6793992" y="362102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fundamentals</a:t>
            </a:r>
            <a:endParaRPr lang="en-US" sz="1350" dirty="0"/>
          </a:p>
        </p:txBody>
      </p:sp>
      <p:sp>
        <p:nvSpPr>
          <p:cNvPr id="36" name="Shape 32"/>
          <p:cNvSpPr/>
          <p:nvPr/>
        </p:nvSpPr>
        <p:spPr>
          <a:xfrm>
            <a:off x="6565392" y="420624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3"/>
          <p:cNvSpPr/>
          <p:nvPr/>
        </p:nvSpPr>
        <p:spPr>
          <a:xfrm>
            <a:off x="6793992" y="405079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and vector databases</a:t>
            </a:r>
            <a:endParaRPr lang="en-US" sz="1350" dirty="0"/>
          </a:p>
        </p:txBody>
      </p:sp>
      <p:sp>
        <p:nvSpPr>
          <p:cNvPr id="38" name="Shape 34"/>
          <p:cNvSpPr/>
          <p:nvPr/>
        </p:nvSpPr>
        <p:spPr>
          <a:xfrm>
            <a:off x="6565392" y="463600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Text 35"/>
          <p:cNvSpPr/>
          <p:nvPr/>
        </p:nvSpPr>
        <p:spPr>
          <a:xfrm>
            <a:off x="6793992" y="44805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6565392" y="506577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Text 37"/>
          <p:cNvSpPr/>
          <p:nvPr/>
        </p:nvSpPr>
        <p:spPr>
          <a:xfrm>
            <a:off x="6793992" y="49103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</a:t>
            </a:r>
            <a:endParaRPr lang="en-US" sz="1350" dirty="0"/>
          </a:p>
        </p:txBody>
      </p:sp>
      <p:sp>
        <p:nvSpPr>
          <p:cNvPr id="42" name="Shape 38"/>
          <p:cNvSpPr/>
          <p:nvPr/>
        </p:nvSpPr>
        <p:spPr>
          <a:xfrm>
            <a:off x="6565392" y="549554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Text 39"/>
          <p:cNvSpPr/>
          <p:nvPr/>
        </p:nvSpPr>
        <p:spPr>
          <a:xfrm>
            <a:off x="6793992" y="534009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API and web development</a:t>
            </a:r>
            <a:endParaRPr lang="en-US" sz="1350" dirty="0"/>
          </a:p>
        </p:txBody>
      </p:sp>
      <p:sp>
        <p:nvSpPr>
          <p:cNvPr id="44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Capstone Project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ENABLES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20240"/>
            <a:ext cx="621792" cy="621792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6" name="Image 0" descr="/home/claude/researchrag/icons/message-circ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042" y="2057034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6517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 Q&amp;A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1248" y="3072384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and get answers from uploaded papers.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15968" y="1627632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1920240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researchrag/icons/file-tex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370" y="2057034"/>
            <a:ext cx="348204" cy="348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8576" y="26517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Summarisation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08576" y="3072384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concise summaries of research papers.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83296" y="1627632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1920240"/>
            <a:ext cx="621792" cy="621792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16" name="Image 2" descr="/home/claude/researchrag/icons/compas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698" y="2057034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26517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75904" y="3072384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limitations and potential research areas.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76472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069080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researchrag/icons/shuffl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42" y="4205874"/>
            <a:ext cx="348204" cy="3482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480060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Comparison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41248" y="5221224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methods used across multiple papers.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15968" y="3776472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8576" y="4069080"/>
            <a:ext cx="621792" cy="621792"/>
          </a:xfrm>
          <a:prstGeom prst="ellipse">
            <a:avLst/>
          </a:prstGeom>
          <a:solidFill>
            <a:srgbClr val="4A5FE7"/>
          </a:solidFill>
          <a:ln/>
        </p:spPr>
      </p:sp>
      <p:pic>
        <p:nvPicPr>
          <p:cNvPr id="26" name="Image 4" descr="/home/claude/researchrag/icons/bar-char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370" y="4205874"/>
            <a:ext cx="348204" cy="3482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08576" y="480060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Analysis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08576" y="5221224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datasets, metrics, and experimental results.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83296" y="3776472"/>
            <a:ext cx="36393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8213B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5904" y="4069080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/home/claude/researchrag/icons/book-open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2698" y="4205874"/>
            <a:ext cx="348204" cy="3482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75904" y="480060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75904" y="5221224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in analysing and organising multiple papers.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Capstone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10512"/>
            <a:ext cx="512064" cy="512064"/>
          </a:xfrm>
          <a:prstGeom prst="ellipse">
            <a:avLst/>
          </a:prstGeom>
          <a:solidFill>
            <a:srgbClr val="8A3B2C"/>
          </a:solidFill>
          <a:ln/>
        </p:spPr>
      </p:sp>
      <p:pic>
        <p:nvPicPr>
          <p:cNvPr id="6" name="Image 0" descr="/home/claude/researchrag/icons/alert-triang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462" y="1923166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4650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Extraction Accuracy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846320" y="1746504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inaccurate for tables, images, and complex layouts.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58775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706624"/>
            <a:ext cx="512064" cy="512064"/>
          </a:xfrm>
          <a:prstGeom prst="ellipse">
            <a:avLst/>
          </a:prstGeom>
          <a:solidFill>
            <a:srgbClr val="8A3B2C"/>
          </a:solidFill>
          <a:ln/>
        </p:spPr>
      </p:sp>
      <p:pic>
        <p:nvPicPr>
          <p:cNvPr id="11" name="Image 1" descr="/home/claude/researchrag/icons/alert-triang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62" y="2819278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64261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Ambiguous Query Handling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846320" y="2642616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may return irrelevant information for ambiguous queries.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48386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02736"/>
            <a:ext cx="512064" cy="512064"/>
          </a:xfrm>
          <a:prstGeom prst="ellipse">
            <a:avLst/>
          </a:prstGeom>
          <a:solidFill>
            <a:srgbClr val="8A3B2C"/>
          </a:solidFill>
          <a:ln/>
        </p:spPr>
      </p:sp>
      <p:pic>
        <p:nvPicPr>
          <p:cNvPr id="16" name="Image 2" descr="/home/claude/researchrag/icons/alert-triang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62" y="3715390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5387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Hallucination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846320" y="353872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still produce incorrect or hallucinated responses.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37997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498848"/>
            <a:ext cx="512064" cy="512064"/>
          </a:xfrm>
          <a:prstGeom prst="ellipse">
            <a:avLst/>
          </a:prstGeom>
          <a:solidFill>
            <a:srgbClr val="8A3B2C"/>
          </a:solidFill>
          <a:ln/>
        </p:spPr>
      </p:sp>
      <p:pic>
        <p:nvPicPr>
          <p:cNvPr id="21" name="Image 3" descr="/home/claude/researchrag/icons/alert-triangl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62" y="4611502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434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Overhead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846320" y="443484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collections of papers may require significant processing.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527608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394960"/>
            <a:ext cx="512064" cy="512064"/>
          </a:xfrm>
          <a:prstGeom prst="ellipse">
            <a:avLst/>
          </a:prstGeom>
          <a:solidFill>
            <a:srgbClr val="8A3B2C"/>
          </a:solidFill>
          <a:ln/>
        </p:spPr>
      </p:sp>
      <p:pic>
        <p:nvPicPr>
          <p:cNvPr id="26" name="Image 4" descr="/home/claude/researchrag/icons/alert-triangl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62" y="5507614"/>
            <a:ext cx="286756" cy="2867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33095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Costs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846320" y="5330952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LLMs may involve additional costs.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Capstone Project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12C4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researchrag/icons/lay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1625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Content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tables, figures, and equations beyond plain text.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12C4E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116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researchrag/icons/shuff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1625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3911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Multi-Paper Analysis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492240" y="28346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and compare multiple research papers together.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12C4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2519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researchrag/icons/compas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44028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7939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Gap Detection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68680" y="507492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identify research gaps and emerging trends.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212C4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2519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researchrag/icons/book-open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440283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7939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Generation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492240" y="507492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literature reviews and citation formats directly.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Capstone Project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20305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20305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researchrag/icons/awar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70" y="87691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91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822960" y="2606040"/>
            <a:ext cx="10515600" cy="2468880"/>
          </a:xfrm>
          <a:prstGeom prst="roundRect">
            <a:avLst>
              <a:gd name="adj" fmla="val 3704"/>
            </a:avLst>
          </a:prstGeom>
          <a:solidFill>
            <a:srgbClr val="212C4E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834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324612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Research Paper Assistant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4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AI-powered research assistant that uses Retrieval-Augmented Generation (RAG) to help researchers understand and analyse research papers. It extracts paper content, creates embeddings, stores them in a vector database, retrieves relevant information based on user queries, and uses an LLM to generate context-aware answers with supporting sources.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ResearchRAG — Capstone Project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2026-08-14T04:01:29Z</dcterms:created>
  <dcterms:modified xsi:type="dcterms:W3CDTF">2026-08-14T04:01:29Z</dcterms:modified>
</cp:coreProperties>
</file>